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objective: helping end users recognise and resist phishing attacks.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awareness is the last line of defence once technical controls are bypassed.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red flag on the mock email during the demo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hovering over a link to reveal the true destination before clicking.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these tactics exploit trust and authority rather than software flaws.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BEC causes more financial loss than ransomware in many annual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teaching section here, then move to the live quiz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browser here and demonstrate the HTML quiz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141C46"/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4114800"/>
            <a:ext cx="2926080" cy="2926080"/>
          </a:xfrm>
          <a:prstGeom prst="ellipse">
            <a:avLst/>
          </a:prstGeom>
          <a:solidFill>
            <a:srgbClr val="141C4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783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 SECURITY INTERNSHIP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8412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Awareness</a:t>
            </a:r>
            <a:endParaRPr lang="en-US" sz="4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Defense Training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3931920" cy="566928"/>
          </a:xfrm>
          <a:prstGeom prst="roundRect">
            <a:avLst>
              <a:gd name="adj" fmla="val 48387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43434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 ·  Recognize &amp; Resist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897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Vishal  |  CodeAlpha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Phishing?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792224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Impersonation at scale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39696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cyber attack where threat actors impersonate legitimate entities — banks, colleagues, or trusted brands.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154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118104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attacker's goal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465576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 credentials, harvest financial data, or deploy malware and ransomware onto the target's device.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4805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480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443984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everywhere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791456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SMS (smishing), voice calls (vishing), QR codes and collaboration apps are all active channels.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0" y="1783080"/>
            <a:ext cx="3749040" cy="3977640"/>
          </a:xfrm>
          <a:prstGeom prst="roundRect">
            <a:avLst>
              <a:gd name="adj" fmla="val 292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38160" y="21488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Human</a:t>
            </a:r>
            <a:endParaRPr lang="en-US" sz="2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Firewall</a:t>
            </a:r>
            <a:endParaRPr lang="en-US" sz="270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32461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54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41605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breaches are estimated to start with a phishing email (widely cited industry figure). Filters catch most — the user stops the rest.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 ·  DISSECTION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Anatomy of a Phishing Email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9436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D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59436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 —  1 unread message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95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3957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IT-Helpdesk &lt;support@micros0ft-secure.net&gt;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7977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7797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URGENT: Your account will be deactivated in 24 hrs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1638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16382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Valued Customer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3611880"/>
            <a:ext cx="5486400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730752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detected unusual sign-in activity on your account. You must confirm your password immediately or all services will be suspended permanently.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here to verify now  &gt;  http://micros0ft-secure.net/login-verify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5230368"/>
            <a:ext cx="2468880" cy="411480"/>
          </a:xfrm>
          <a:prstGeom prst="roundRect">
            <a:avLst>
              <a:gd name="adj" fmla="val 13333"/>
            </a:avLst>
          </a:prstGeom>
          <a:solidFill>
            <a:srgbClr val="FDECEC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52303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Invoice_Scan.html.zip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0" y="1920240"/>
            <a:ext cx="566928" cy="566928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4944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19019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Mismatched sender domain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22128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 replaces the "o" — the display name never proves the domain.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49440" y="2944368"/>
            <a:ext cx="566928" cy="566928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49440" y="2944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29260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Urgent, threatening language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323697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 and account-loss threats exist to stop you thinking.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949440" y="3968496"/>
            <a:ext cx="566928" cy="566928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949440" y="3968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680960" y="39502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680960" y="426110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provider addresses you by name, not "Valued Customer".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949440" y="4992624"/>
            <a:ext cx="566928" cy="566928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949440" y="4992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680960" y="49743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attachment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680960" y="528523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extensions and archives hide executable payloads.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 ·  THE LANDING PAGE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Spotting Fake Websites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685800"/>
          </a:xfrm>
          <a:prstGeom prst="roundRect">
            <a:avLst>
              <a:gd name="adj" fmla="val 16000"/>
            </a:avLst>
          </a:prstGeom>
          <a:solidFill>
            <a:srgbClr val="F4F7FC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83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</a:t>
            </a:r>
            <a:pPr indent="0" marL="0">
              <a:buNone/>
            </a:pPr>
            <a:r>
              <a:rPr lang="en-US" sz="1500" b="1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</a:t>
            </a:r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icrosoft.com</a:t>
            </a:r>
            <a:pPr indent="0" marL="0">
              <a:buNone/>
            </a:pPr>
            <a:r>
              <a:rPr lang="en-US" sz="1500" dirty="0">
                <a:solidFill>
                  <a:srgbClr val="5A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/account/login-verify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24871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LETTERS READ AS "m"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3383280" cy="2743200"/>
          </a:xfrm>
          <a:prstGeom prst="roundRect">
            <a:avLst>
              <a:gd name="adj" fmla="val 3333"/>
            </a:avLst>
          </a:prstGeom>
          <a:solidFill>
            <a:srgbClr val="F4F7FC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33832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3383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Typosquatting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48056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rnicrosoft.com instead of microsoft.com. Attackers register look-alike domains using swapped, doubled or accented characters that the eye reads straight past.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89120" y="3063240"/>
            <a:ext cx="3383280" cy="274320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4709160" y="33832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09160" y="3383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HTTPS Myth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448056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padlock does not mean the site is safe. It only means the connection is encrypted — and criminals get free certificates too.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38160" y="3063240"/>
            <a:ext cx="3383280" cy="2743200"/>
          </a:xfrm>
          <a:prstGeom prst="roundRect">
            <a:avLst>
              <a:gd name="adj" fmla="val 3333"/>
            </a:avLst>
          </a:prstGeom>
          <a:solidFill>
            <a:srgbClr val="F4F7FC"/>
          </a:solidFill>
          <a:ln/>
        </p:spPr>
      </p:sp>
      <p:sp>
        <p:nvSpPr>
          <p:cNvPr id="18" name="Shape 16"/>
          <p:cNvSpPr/>
          <p:nvPr/>
        </p:nvSpPr>
        <p:spPr>
          <a:xfrm>
            <a:off x="8458200" y="33832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58200" y="3383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surroundings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458200" y="448056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pop-ups, dead secondary links, low-resolution logos and missing legal pages betray a page built in a hurry.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 ·  TARGETED ATTACKS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Engineering Tactics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AAB4CC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33172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TARGETED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880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 Phishing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4290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with your real name, role, projects and colleagues — usually scraped from LinkedIn or a past breach.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05840" y="4754880"/>
            <a:ext cx="100584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48920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 Vishal, here is the file from Friday's review call.”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34840" y="192024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AAB4CC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233172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00600" y="2331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FOCUS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880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Whaling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34290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Aimed at CEOs, CFOs and directors whose approval unlocks payments, contracts and privileged systems.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800600" y="4754880"/>
            <a:ext cx="100584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48920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“Approve this before my flight lands. Keep it quiet.”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0" y="192024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AAB4CC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95360" y="233172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95360" y="2331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SCENARIO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0" y="2880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Pretexting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8595360" y="34290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believable story — fake IT support, a courier, an auditor — built purely to justify the request that follows.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595360" y="4754880"/>
            <a:ext cx="100584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95360" y="48920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here. Read me the code so I can finish the patch.”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Email Compromise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never breaks in. They simply ask — as someone you cannot refuse.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2423160" cy="3017520"/>
          </a:xfrm>
          <a:prstGeom prst="roundRect">
            <a:avLst>
              <a:gd name="adj" fmla="val 3774"/>
            </a:avLst>
          </a:prstGeom>
          <a:solidFill>
            <a:srgbClr val="141C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468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429000"/>
            <a:ext cx="1920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studies the company website and social media to learn the CEO's name, travel plans and the finance team structure.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63824" y="3611880"/>
            <a:ext cx="292608" cy="256032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0" name="Shape 8"/>
          <p:cNvSpPr/>
          <p:nvPr/>
        </p:nvSpPr>
        <p:spPr>
          <a:xfrm>
            <a:off x="3456432" y="2240280"/>
            <a:ext cx="2423160" cy="3017520"/>
          </a:xfrm>
          <a:prstGeom prst="roundRect">
            <a:avLst>
              <a:gd name="adj" fmla="val 3774"/>
            </a:avLst>
          </a:prstGeom>
          <a:solidFill>
            <a:srgbClr val="141C4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30752" y="2468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730752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730752" y="3429000"/>
            <a:ext cx="1920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email arrives from a look-alike address, matching the CEO's usual tone and signature block.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0176" y="3611880"/>
            <a:ext cx="292608" cy="256032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272784" y="2240280"/>
            <a:ext cx="2423160" cy="3017520"/>
          </a:xfrm>
          <a:prstGeom prst="roundRect">
            <a:avLst>
              <a:gd name="adj" fmla="val 3774"/>
            </a:avLst>
          </a:prstGeom>
          <a:solidFill>
            <a:srgbClr val="141C4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47104" y="2468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547104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547104" y="3429000"/>
            <a:ext cx="1920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urgent, confidential wire transfer is requested — secrecy is demanded, so the employee never verifies by phone.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796528" y="3611880"/>
            <a:ext cx="292608" cy="256032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0" name="Shape 18"/>
          <p:cNvSpPr/>
          <p:nvPr/>
        </p:nvSpPr>
        <p:spPr>
          <a:xfrm>
            <a:off x="9089136" y="2240280"/>
            <a:ext cx="2423160" cy="3017520"/>
          </a:xfrm>
          <a:prstGeom prst="roundRect">
            <a:avLst>
              <a:gd name="adj" fmla="val 3774"/>
            </a:avLst>
          </a:prstGeom>
          <a:solidFill>
            <a:srgbClr val="141C4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63456" y="2468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9363456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363456" y="3429000"/>
            <a:ext cx="1920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move to a mule account and are dispersed within minutes. Recovery after 72 hours is rare.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Defence:  any payment request that is urgent AND confidential must be verified on a known phone number — never by replying to the email.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 ·  YOUR PLAYBOOK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&amp; Defense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4825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482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984248"/>
            <a:ext cx="6309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independently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28600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click the link in the message. Open a new tab, type the address yourself, or call the sender on a number you already have.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09981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0998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035808"/>
            <a:ext cx="6309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MFA everywhere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333756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stolen password alone becomes useless. Prefer an authenticator app or hardware key over SMS codes.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15137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151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087368"/>
            <a:ext cx="6309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password manager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438912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will not autofill on a look-alike domain — silence from your vault is itself a warning.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02920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520293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5202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645920" y="5138928"/>
            <a:ext cx="6309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don't delete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645920" y="544068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Forwarding the sample to the security team protects every other inbox in the organisation.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686800" y="1874520"/>
            <a:ext cx="2834640" cy="4160520"/>
          </a:xfrm>
          <a:prstGeom prst="roundRect">
            <a:avLst>
              <a:gd name="adj" fmla="val 3226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006840" y="23317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Stop.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Think.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Verify.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9006840" y="41148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seconds of doubt costs nothing. Three seconds of trust can cost an organisation everything.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4754880" cy="4754880"/>
          </a:xfrm>
          <a:prstGeom prst="ellipse">
            <a:avLst/>
          </a:prstGeom>
          <a:solidFill>
            <a:srgbClr val="141C4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TRAINING MODULE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test your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knowledge.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88620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interactive quiz — spot the phishing attempt, score yourself, and see the red flags explained after every answer.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846320"/>
            <a:ext cx="3017520" cy="594360"/>
          </a:xfrm>
          <a:prstGeom prst="roundRect">
            <a:avLst>
              <a:gd name="adj" fmla="val 49231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48463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quiz  &gt;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503920" y="2286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8503920" y="2788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questions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503920" y="3429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3931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Red-flag feedback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4572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5074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on screen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Vishal  |  CodeAlpha Cyber Security Internship  ·  Task 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&amp; Defense Training</dc:title>
  <dc:subject>PptxGenJS Presentation</dc:subject>
  <dc:creator>Vishal</dc:creator>
  <cp:lastModifiedBy>Vishal</cp:lastModifiedBy>
  <cp:revision>1</cp:revision>
  <dcterms:created xsi:type="dcterms:W3CDTF">2026-09-20T08:56:25Z</dcterms:created>
  <dcterms:modified xsi:type="dcterms:W3CDTF">2026-09-20T08:56:25Z</dcterms:modified>
</cp:coreProperties>
</file>